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25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FFFFF"/>
                </a:solidFill>
              </a:defRPr>
            </a:pPr>
            <a:r>
              <a:t>NexaChat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024128"/>
            <a:ext cx="107899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CBD5E1"/>
                </a:solidFill>
              </a:defRPr>
            </a:pPr>
            <a:r>
              <a:t>Cloud-Based Real-Time Chat Application Using Serverless Backend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011680"/>
            <a:ext cx="7132320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>
                <a:solidFill>
                  <a:srgbClr val="FFFFFF"/>
                </a:solidFill>
              </a:defRPr>
            </a:pPr>
            <a:r>
              <a:t>Pinsout, Noida</a:t>
            </a:r>
            <a:br/>
            <a:r>
              <a:t>Next.js + Firebase Serverless Architecture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9920" y="6419088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CBD5E1"/>
                </a:solidFill>
              </a:defRPr>
            </a:pPr>
            <a: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25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FFFFF"/>
                </a:solidFill>
              </a:defRPr>
            </a:pPr>
            <a:r>
              <a:t>Introduction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600200"/>
            <a:ext cx="10607040" cy="44805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FFFFFF"/>
                </a:solidFill>
              </a:defRPr>
            </a:pPr>
            <a:r>
              <a:t>NexaChat is a cloud-based real-time chat application designed to provide secure messaging, group communication, user profiles, dark mode, message actions, and responsive access across desktop and mobile devices.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6419088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CBD5E1"/>
                </a:solidFill>
              </a:defRPr>
            </a:pPr>
            <a: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25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FFFFF"/>
                </a:solidFill>
              </a:defRPr>
            </a:pPr>
            <a:r>
              <a:t>Objectives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600200"/>
            <a:ext cx="10607040" cy="44805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FFFFFF"/>
                </a:solidFill>
              </a:defRPr>
            </a:pPr>
            <a:r>
              <a:t>Develop a scalable real-time chat application using serverless architecture, reduce infrastructure management, support authentication, realtime messaging, groups, profiles, settings, and prepare performance and scalability documentation.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6419088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CBD5E1"/>
                </a:solidFill>
              </a:defRPr>
            </a:pPr>
            <a: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25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FFFFF"/>
                </a:solidFill>
              </a:defRPr>
            </a:pPr>
            <a:r>
              <a:t>Problem Statement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600200"/>
            <a:ext cx="10607040" cy="44805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FFFFFF"/>
                </a:solidFill>
              </a:defRPr>
            </a:pPr>
            <a:r>
              <a:t>Traditional chat systems require managed servers, socket infrastructure, scaling planning, and manual operational monitoring.</a:t>
            </a:r>
          </a:p>
          <a:p>
            <a:pPr>
              <a:spcAft>
                <a:spcPts val="1000"/>
              </a:spcAft>
              <a:defRPr sz="2000">
                <a:solidFill>
                  <a:srgbClr val="FFFFFF"/>
                </a:solidFill>
              </a:defRPr>
            </a:pPr>
            <a:r>
              <a:t>The project solves this by using managed serverless services for authentication, realtime sync, storage, hosting, and security rules.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6419088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CBD5E1"/>
                </a:solidFill>
              </a:defRPr>
            </a:pPr>
            <a: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25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FFFFF"/>
                </a:solidFill>
              </a:defRPr>
            </a:pPr>
            <a:r>
              <a:t>Existing System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600200"/>
            <a:ext cx="10607040" cy="44805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FFFFFF"/>
                </a:solidFill>
              </a:defRPr>
            </a:pPr>
            <a:r>
              <a:t>Traditional hosting depends on a dedicated backend server, manually managed WebSocket services, server database connections, and capacity planning.</a:t>
            </a:r>
          </a:p>
          <a:p>
            <a:pPr>
              <a:spcAft>
                <a:spcPts val="1000"/>
              </a:spcAft>
              <a:defRPr sz="2000">
                <a:solidFill>
                  <a:srgbClr val="FFFFFF"/>
                </a:solidFill>
              </a:defRPr>
            </a:pPr>
            <a:r>
              <a:t>This increases operational cost and complexity for student and small-team deployments.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6419088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CBD5E1"/>
                </a:solidFill>
              </a:defRPr>
            </a:pPr>
            <a: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25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FFFFF"/>
                </a:solidFill>
              </a:defRPr>
            </a:pPr>
            <a:r>
              <a:t>Proposed System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600200"/>
            <a:ext cx="10607040" cy="44805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FFFFFF"/>
                </a:solidFill>
              </a:defRPr>
            </a:pPr>
            <a:r>
              <a:t>The proposed system uses Next.js with Tailwind CSS on the frontend and Firebase services for authentication, realtime database synchronization, storage, and hosting.</a:t>
            </a:r>
          </a:p>
          <a:p>
            <a:pPr>
              <a:spcAft>
                <a:spcPts val="1000"/>
              </a:spcAft>
              <a:defRPr sz="2000">
                <a:solidFill>
                  <a:srgbClr val="FFFFFF"/>
                </a:solidFill>
              </a:defRPr>
            </a:pPr>
            <a:r>
              <a:t>Protected routes and Firebase rules enforce application security.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6419088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CBD5E1"/>
                </a:solidFill>
              </a:defRPr>
            </a:pPr>
            <a: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25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FFFFF"/>
                </a:solidFill>
              </a:defRPr>
            </a:pPr>
            <a:r>
              <a:t>System Architecture Diagram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2468880"/>
            <a:ext cx="1920240" cy="777240"/>
          </a:xfrm>
          <a:prstGeom prst="roundRect">
            <a:avLst/>
          </a:prstGeom>
          <a:solidFill>
            <a:srgbClr val="1E2961"/>
          </a:solidFill>
          <a:ln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>
                <a:solidFill>
                  <a:srgbClr val="FFFFFF"/>
                </a:solidFill>
              </a:defRPr>
            </a:pPr>
            <a:r>
              <a:t>User</a:t>
            </a:r>
          </a:p>
        </p:txBody>
      </p:sp>
      <p:sp>
        <p:nvSpPr>
          <p:cNvPr id="5" name="Right Arrow 4"/>
          <p:cNvSpPr/>
          <p:nvPr/>
        </p:nvSpPr>
        <p:spPr>
          <a:xfrm>
            <a:off x="2606039" y="2670048"/>
            <a:ext cx="502920" cy="347472"/>
          </a:xfrm>
          <a:prstGeom prst="rightArrow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2971800" y="2468880"/>
            <a:ext cx="1920240" cy="777240"/>
          </a:xfrm>
          <a:prstGeom prst="roundRect">
            <a:avLst/>
          </a:prstGeom>
          <a:solidFill>
            <a:srgbClr val="1E2961"/>
          </a:solidFill>
          <a:ln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>
                <a:solidFill>
                  <a:srgbClr val="FFFFFF"/>
                </a:solidFill>
              </a:defRPr>
            </a:pPr>
            <a:r>
              <a:t>Next.js UI</a:t>
            </a:r>
          </a:p>
        </p:txBody>
      </p:sp>
      <p:sp>
        <p:nvSpPr>
          <p:cNvPr id="7" name="Right Arrow 6"/>
          <p:cNvSpPr/>
          <p:nvPr/>
        </p:nvSpPr>
        <p:spPr>
          <a:xfrm>
            <a:off x="4937760" y="2670048"/>
            <a:ext cx="502920" cy="347472"/>
          </a:xfrm>
          <a:prstGeom prst="rightArrow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303520" y="2468880"/>
            <a:ext cx="1920240" cy="777240"/>
          </a:xfrm>
          <a:prstGeom prst="roundRect">
            <a:avLst/>
          </a:prstGeom>
          <a:solidFill>
            <a:srgbClr val="1E2961"/>
          </a:solidFill>
          <a:ln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>
                <a:solidFill>
                  <a:srgbClr val="FFFFFF"/>
                </a:solidFill>
              </a:defRPr>
            </a:pPr>
            <a:r>
              <a:t>AuthGuard</a:t>
            </a:r>
          </a:p>
        </p:txBody>
      </p:sp>
      <p:sp>
        <p:nvSpPr>
          <p:cNvPr id="9" name="Right Arrow 8"/>
          <p:cNvSpPr/>
          <p:nvPr/>
        </p:nvSpPr>
        <p:spPr>
          <a:xfrm>
            <a:off x="7269479" y="2670048"/>
            <a:ext cx="502920" cy="347472"/>
          </a:xfrm>
          <a:prstGeom prst="rightArrow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7635240" y="2468880"/>
            <a:ext cx="1920240" cy="777240"/>
          </a:xfrm>
          <a:prstGeom prst="roundRect">
            <a:avLst/>
          </a:prstGeom>
          <a:solidFill>
            <a:srgbClr val="1E2961"/>
          </a:solidFill>
          <a:ln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>
                <a:solidFill>
                  <a:srgbClr val="FFFFFF"/>
                </a:solidFill>
              </a:defRPr>
            </a:pPr>
            <a:r>
              <a:t>Firestore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9601200" y="2670048"/>
            <a:ext cx="502920" cy="347472"/>
          </a:xfrm>
          <a:prstGeom prst="rightArrow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9966959" y="2468880"/>
            <a:ext cx="1920240" cy="777240"/>
          </a:xfrm>
          <a:prstGeom prst="roundRect">
            <a:avLst/>
          </a:prstGeom>
          <a:solidFill>
            <a:srgbClr val="1E2961"/>
          </a:solidFill>
          <a:ln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>
                <a:solidFill>
                  <a:srgbClr val="FFFFFF"/>
                </a:solidFill>
              </a:defRPr>
            </a:pPr>
            <a:r>
              <a:t>Storage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789920" y="6419088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CBD5E1"/>
                </a:solidFill>
              </a:defRPr>
            </a:pPr>
            <a: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25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FFFFF"/>
                </a:solidFill>
              </a:defRPr>
            </a:pPr>
            <a:r>
              <a:t>Technology Stack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600200"/>
            <a:ext cx="10607040" cy="44805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000"/>
              </a:spcAft>
              <a:defRPr sz="1700">
                <a:solidFill>
                  <a:srgbClr val="FFFFFF"/>
                </a:solidFill>
              </a:defRPr>
            </a:pPr>
            <a:r>
              <a:t>Next.js 15 + TypeScript + Tailwind CSS</a:t>
            </a:r>
          </a:p>
          <a:p>
            <a:pPr>
              <a:spcAft>
                <a:spcPts val="1000"/>
              </a:spcAft>
              <a:defRPr sz="1700">
                <a:solidFill>
                  <a:srgbClr val="FFFFFF"/>
                </a:solidFill>
              </a:defRPr>
            </a:pPr>
            <a:r>
              <a:t>Firebase Authentication</a:t>
            </a:r>
          </a:p>
          <a:p>
            <a:pPr>
              <a:spcAft>
                <a:spcPts val="1000"/>
              </a:spcAft>
              <a:defRPr sz="1700">
                <a:solidFill>
                  <a:srgbClr val="FFFFFF"/>
                </a:solidFill>
              </a:defRPr>
            </a:pPr>
            <a:r>
              <a:t>Cloud Firestore realtime database</a:t>
            </a:r>
          </a:p>
          <a:p>
            <a:pPr>
              <a:spcAft>
                <a:spcPts val="1000"/>
              </a:spcAft>
              <a:defRPr sz="1700">
                <a:solidFill>
                  <a:srgbClr val="FFFFFF"/>
                </a:solidFill>
              </a:defRPr>
            </a:pPr>
            <a:r>
              <a:t>Firebase Storage and Hosting</a:t>
            </a:r>
          </a:p>
          <a:p>
            <a:pPr>
              <a:spcAft>
                <a:spcPts val="1000"/>
              </a:spcAft>
              <a:defRPr sz="1700">
                <a:solidFill>
                  <a:srgbClr val="FFFFFF"/>
                </a:solidFill>
              </a:defRPr>
            </a:pPr>
            <a:r>
              <a:t>Sonner toast notifications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6419088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CBD5E1"/>
                </a:solidFill>
              </a:defRPr>
            </a:pPr>
            <a: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25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FFFFF"/>
                </a:solidFill>
              </a:defRPr>
            </a:pPr>
            <a:r>
              <a:t>Features Implemented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600200"/>
            <a:ext cx="10607040" cy="44805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FFFFFF"/>
                </a:solidFill>
              </a:defRPr>
            </a:pPr>
            <a:r>
              <a:t>Authentication, forgot/change password, realtime messaging, group chats, reactions, replies, message edit/delete, seen list, message status, chat search, profile, settings, dark mode, friend requests, archived chats, muted chats, and blocked users.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6419088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CBD5E1"/>
                </a:solidFill>
              </a:defRPr>
            </a:pPr>
            <a: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25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FFFFF"/>
                </a:solidFill>
              </a:defRPr>
            </a:pPr>
            <a:r>
              <a:t>Firebase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600200"/>
            <a:ext cx="10607040" cy="44805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FFFFFF"/>
                </a:solidFill>
              </a:defRPr>
            </a:pPr>
            <a:r>
              <a:t>Firebase Auth manages identity.</a:t>
            </a:r>
          </a:p>
          <a:p>
            <a:pPr>
              <a:spcAft>
                <a:spcPts val="1000"/>
              </a:spcAft>
              <a:defRPr sz="2000">
                <a:solidFill>
                  <a:srgbClr val="FFFFFF"/>
                </a:solidFill>
              </a:defRPr>
            </a:pPr>
            <a:r>
              <a:t>Firestore stores users, chats, groups, messages, requests, presence, and user-scoped preferences.</a:t>
            </a:r>
          </a:p>
          <a:p>
            <a:pPr>
              <a:spcAft>
                <a:spcPts val="1000"/>
              </a:spcAft>
              <a:defRPr sz="2000">
                <a:solidFill>
                  <a:srgbClr val="FFFFFF"/>
                </a:solidFill>
              </a:defRPr>
            </a:pPr>
            <a:r>
              <a:t>Storage handles attachments.</a:t>
            </a:r>
          </a:p>
          <a:p>
            <a:pPr>
              <a:spcAft>
                <a:spcPts val="1000"/>
              </a:spcAft>
              <a:defRPr sz="2000">
                <a:solidFill>
                  <a:srgbClr val="FFFFFF"/>
                </a:solidFill>
              </a:defRPr>
            </a:pPr>
            <a:r>
              <a:t>Firebase rules protect reads and writes by user identity and membership.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6419088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CBD5E1"/>
                </a:solidFill>
              </a:defRPr>
            </a:pPr>
            <a: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25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FFFFF"/>
                </a:solidFill>
              </a:defRPr>
            </a:pPr>
            <a:r>
              <a:t>Authentication 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600200"/>
            <a:ext cx="10607040" cy="44805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FFFFFF"/>
                </a:solidFill>
              </a:defRPr>
            </a:pPr>
            <a:r>
              <a:t>User signs in or registers through Firebase Authentication.</a:t>
            </a:r>
          </a:p>
          <a:p>
            <a:pPr>
              <a:spcAft>
                <a:spcPts val="1000"/>
              </a:spcAft>
              <a:defRPr sz="2000">
                <a:solidFill>
                  <a:srgbClr val="FFFFFF"/>
                </a:solidFill>
              </a:defRPr>
            </a:pPr>
            <a:r>
              <a:t>Protected pages are wrapped in AuthGuard.</a:t>
            </a:r>
          </a:p>
          <a:p>
            <a:pPr>
              <a:spcAft>
                <a:spcPts val="1000"/>
              </a:spcAft>
              <a:defRPr sz="2000">
                <a:solidFill>
                  <a:srgbClr val="FFFFFF"/>
                </a:solidFill>
              </a:defRPr>
            </a:pPr>
            <a:r>
              <a:t>If no authenticated user is present, the app redirects to /auth/login.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6419088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CBD5E1"/>
                </a:solidFill>
              </a:defRPr>
            </a:pPr>
            <a: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25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FFFFF"/>
                </a:solidFill>
              </a:defRPr>
            </a:pPr>
            <a:r>
              <a:t>Real-Time Messaging 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600200"/>
            <a:ext cx="10607040" cy="44805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FFFFFF"/>
                </a:solidFill>
              </a:defRPr>
            </a:pPr>
            <a:r>
              <a:t>The chat room listens to the active message collection with Firestore realtime listeners.</a:t>
            </a:r>
          </a:p>
          <a:p>
            <a:pPr>
              <a:spcAft>
                <a:spcPts val="1000"/>
              </a:spcAft>
              <a:defRPr sz="2000">
                <a:solidFill>
                  <a:srgbClr val="FFFFFF"/>
                </a:solidFill>
              </a:defRPr>
            </a:pPr>
            <a:r>
              <a:t>Sending a message validates and sanitizes input, writes to Firestore, updates the chat metadata, and automatically syncs to participants.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6419088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CBD5E1"/>
                </a:solidFill>
              </a:defRPr>
            </a:pPr>
            <a: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25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FFFFF"/>
                </a:solidFill>
              </a:defRPr>
            </a:pPr>
            <a:r>
              <a:t>Database Schema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600200"/>
            <a:ext cx="10607040" cy="44805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000"/>
              </a:spcAft>
              <a:defRPr sz="1700">
                <a:solidFill>
                  <a:srgbClr val="FFFFFF"/>
                </a:solidFill>
              </a:defRPr>
            </a:pPr>
            <a:r>
              <a:t>users and presence</a:t>
            </a:r>
          </a:p>
          <a:p>
            <a:pPr>
              <a:spcAft>
                <a:spcPts val="1000"/>
              </a:spcAft>
              <a:defRPr sz="1700">
                <a:solidFill>
                  <a:srgbClr val="FFFFFF"/>
                </a:solidFill>
              </a:defRPr>
            </a:pPr>
            <a:r>
              <a:t>friends and friendRequests</a:t>
            </a:r>
          </a:p>
          <a:p>
            <a:pPr>
              <a:spcAft>
                <a:spcPts val="1000"/>
              </a:spcAft>
              <a:defRPr sz="1700">
                <a:solidFill>
                  <a:srgbClr val="FFFFFF"/>
                </a:solidFill>
              </a:defRPr>
            </a:pPr>
            <a:r>
              <a:t>chats/{id}/messages</a:t>
            </a:r>
          </a:p>
          <a:p>
            <a:pPr>
              <a:spcAft>
                <a:spcPts val="1000"/>
              </a:spcAft>
              <a:defRPr sz="1700">
                <a:solidFill>
                  <a:srgbClr val="FFFFFF"/>
                </a:solidFill>
              </a:defRPr>
            </a:pPr>
            <a:r>
              <a:t>groups/{id}/messages</a:t>
            </a:r>
          </a:p>
          <a:p>
            <a:pPr>
              <a:spcAft>
                <a:spcPts val="1000"/>
              </a:spcAft>
              <a:defRPr sz="1700">
                <a:solidFill>
                  <a:srgbClr val="FFFFFF"/>
                </a:solidFill>
              </a:defRPr>
            </a:pPr>
            <a:r>
              <a:t>archived, deleted, muted, blocked, notificationState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6419088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CBD5E1"/>
                </a:solidFill>
              </a:defRPr>
            </a:pPr>
            <a: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25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FFFFF"/>
                </a:solidFill>
              </a:defRPr>
            </a:pPr>
            <a:r>
              <a:t>Screenshots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600200"/>
            <a:ext cx="10607040" cy="44805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FFFFFF"/>
                </a:solidFill>
              </a:defRPr>
            </a:pPr>
            <a:r>
              <a:t>Add final screenshots for login, register, chat list, chat room, group chat, profile, settings, friends, blocked users, and mobile responsive views after deployment.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6419088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CBD5E1"/>
                </a:solidFill>
              </a:defRPr>
            </a:pPr>
            <a: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25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FFFFF"/>
                </a:solidFill>
              </a:defRPr>
            </a:pPr>
            <a:r>
              <a:t>Serverless Benefits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600200"/>
            <a:ext cx="10607040" cy="44805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FFFFFF"/>
                </a:solidFill>
              </a:defRPr>
            </a:pPr>
            <a:r>
              <a:t>No dedicated server management, automatic scaling, managed authentication, managed realtime database, simplified deployment, cost efficiency for variable workloads, and integrated monitoring through Firebase and Google Cloud tools.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6419088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CBD5E1"/>
                </a:solidFill>
              </a:defRPr>
            </a:pPr>
            <a: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25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FFFFF"/>
                </a:solidFill>
              </a:defRPr>
            </a:pPr>
            <a:r>
              <a:t>Performance Testing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600200"/>
            <a:ext cx="10607040" cy="44805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FFFFFF"/>
                </a:solidFill>
              </a:defRPr>
            </a:pPr>
            <a:r>
              <a:t>Use Artillery or k6 to test concurrent message creation, chat list loading, group message fan-out, and listener responsiveness.</a:t>
            </a:r>
          </a:p>
          <a:p>
            <a:pPr>
              <a:spcAft>
                <a:spcPts val="1000"/>
              </a:spcAft>
              <a:defRPr sz="2000">
                <a:solidFill>
                  <a:srgbClr val="FFFFFF"/>
                </a:solidFill>
              </a:defRPr>
            </a:pPr>
            <a:r>
              <a:t>Measure latency, error rate, and successful message delivery under load.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6419088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CBD5E1"/>
                </a:solidFill>
              </a:defRPr>
            </a:pPr>
            <a: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25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FFFFF"/>
                </a:solidFill>
              </a:defRPr>
            </a:pPr>
            <a:r>
              <a:t>Comparison: Serverless vs Traditional Hosting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600200"/>
            <a:ext cx="10607040" cy="44805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FFFFFF"/>
                </a:solidFill>
              </a:defRPr>
            </a:pPr>
            <a:r>
              <a:t>Serverless reduces infrastructure work and scales automatically, while traditional hosting offers more low-level control but requires server provisioning, socket scaling, database connection management, and manual monitoring.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6419088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CBD5E1"/>
                </a:solidFill>
              </a:defRPr>
            </a:pPr>
            <a: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25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FFFFF"/>
                </a:solidFill>
              </a:defRPr>
            </a:pPr>
            <a:r>
              <a:t>Future Scope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600200"/>
            <a:ext cx="10607040" cy="44805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FFFFFF"/>
                </a:solidFill>
              </a:defRPr>
            </a:pPr>
            <a:r>
              <a:t>Push notifications, end-to-end encryption, media compression, advanced moderation, cloud functions for notifications, analytics dashboard, emulator-based rule tests, and larger-scale performance benchmarking.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6419088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CBD5E1"/>
                </a:solidFill>
              </a:defRPr>
            </a:pPr>
            <a: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25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FFFFF"/>
                </a:solidFill>
              </a:defRPr>
            </a:pPr>
            <a:r>
              <a:t>Conclusion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600200"/>
            <a:ext cx="10607040" cy="44805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FFFFFF"/>
                </a:solidFill>
              </a:defRPr>
            </a:pPr>
            <a:r>
              <a:t>NexaChat demonstrates a scalable serverless chat system using modern frontend tooling and Firebase managed services.</a:t>
            </a:r>
          </a:p>
          <a:p>
            <a:pPr>
              <a:spcAft>
                <a:spcPts val="1000"/>
              </a:spcAft>
              <a:defRPr sz="2000">
                <a:solidFill>
                  <a:srgbClr val="FFFFFF"/>
                </a:solidFill>
              </a:defRPr>
            </a:pPr>
            <a:r>
              <a:t>The architecture supports realtime synchronization, protected user workflows, and efficient deployment.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6419088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CBD5E1"/>
                </a:solidFill>
              </a:defRPr>
            </a:pPr>
            <a:r>
              <a:t>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25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FFFFF"/>
                </a:solidFill>
              </a:defRPr>
            </a:pPr>
            <a:r>
              <a:t>References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600200"/>
            <a:ext cx="10607040" cy="44805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FFFFFF"/>
                </a:solidFill>
              </a:defRPr>
            </a:pPr>
            <a:r>
              <a:t>Firebase Documentation, Cloud Firestore Security Rules Documentation, Next.js Documentation, Tailwind CSS Documentation, Google Cloud/Firebase Hosting Documentation, Artillery and k6 Documentation.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6419088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CBD5E1"/>
                </a:solidFill>
              </a:defRPr>
            </a:pPr>
            <a:r>
              <a:t>20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25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FFFFF"/>
                </a:solidFill>
              </a:defRPr>
            </a:pPr>
            <a:r>
              <a:t>Submission Checklist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600200"/>
            <a:ext cx="10607040" cy="44805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FFFFFF"/>
                </a:solidFill>
              </a:defRPr>
            </a:pPr>
            <a:r>
              <a:t>Code hardening complete: responsiveness, auth guards, toasts, validation.</a:t>
            </a:r>
          </a:p>
          <a:p>
            <a:pPr>
              <a:spcAft>
                <a:spcPts val="1000"/>
              </a:spcAft>
              <a:defRPr sz="2000">
                <a:solidFill>
                  <a:srgbClr val="FFFFFF"/>
                </a:solidFill>
              </a:defRPr>
            </a:pPr>
            <a:r>
              <a:t>Firebase rules added for Firestore and Storage.</a:t>
            </a:r>
          </a:p>
          <a:p>
            <a:pPr>
              <a:spcAft>
                <a:spcPts val="1000"/>
              </a:spcAft>
              <a:defRPr sz="2000">
                <a:solidFill>
                  <a:srgbClr val="FFFFFF"/>
                </a:solidFill>
              </a:defRPr>
            </a:pPr>
            <a:r>
              <a:t>TypeScript verification passes.</a:t>
            </a:r>
          </a:p>
          <a:p>
            <a:pPr>
              <a:spcAft>
                <a:spcPts val="1000"/>
              </a:spcAft>
              <a:defRPr sz="2000">
                <a:solidFill>
                  <a:srgbClr val="FFFFFF"/>
                </a:solidFill>
              </a:defRPr>
            </a:pPr>
            <a:r>
              <a:t>Add final screenshots and performance results before submission.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6419088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CBD5E1"/>
                </a:solidFill>
              </a:defRPr>
            </a:pPr>
            <a:r>
              <a:t>21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